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Open Sans SemiBold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67A934-25B4-4D31-8464-02C6636A3C1D}">
  <a:tblStyle styleId="{7567A934-25B4-4D31-8464-02C6636A3C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.fntdata"/><Relationship Id="rId22" Type="http://schemas.openxmlformats.org/officeDocument/2006/relationships/font" Target="fonts/OpenSansSemiBold-boldItalic.fntdata"/><Relationship Id="rId21" Type="http://schemas.openxmlformats.org/officeDocument/2006/relationships/font" Target="fonts/OpenSansSemiBold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OpenSansSemiBold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 guys, today I wil talk about Play Framework.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Lets get started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Play 3? It is a open source web </a:t>
            </a:r>
            <a:r>
              <a:rPr lang="en-US"/>
              <a:t>framework designed for the quickly Java and Scala development app.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we have the components of this framework and the main features 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Reactive and Asynchoronous 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 View Control and stateless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on Apache Pekko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Focus on Developer Productivity, with hot reloading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Scala Build Tool as default dependency manager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Scalable: Targets low-latency apps with 250k+ Requests Per Second</a:t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 traditional backend architectures, handling high concurrency typically involves managing operating system </a:t>
            </a:r>
            <a:r>
              <a:rPr i="1" lang="en-US">
                <a:solidFill>
                  <a:schemeClr val="dk1"/>
                </a:solidFill>
              </a:rPr>
              <a:t>threads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i="1" lang="en-US">
                <a:solidFill>
                  <a:schemeClr val="dk1"/>
                </a:solidFill>
              </a:rPr>
              <a:t>locks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i="1" lang="en-US">
                <a:solidFill>
                  <a:schemeClr val="dk1"/>
                </a:solidFill>
              </a:rPr>
              <a:t>shared memory.</a:t>
            </a:r>
            <a:r>
              <a:rPr lang="en-US">
                <a:solidFill>
                  <a:schemeClr val="dk1"/>
                </a:solidFill>
              </a:rPr>
              <a:t> When a system needs to scale to massive volumes such as hundreds of thousands of requests per second, context switching between </a:t>
            </a:r>
            <a:r>
              <a:rPr i="1" lang="en-US">
                <a:solidFill>
                  <a:schemeClr val="dk1"/>
                </a:solidFill>
              </a:rPr>
              <a:t>threads</a:t>
            </a:r>
            <a:r>
              <a:rPr lang="en-US">
                <a:solidFill>
                  <a:schemeClr val="dk1"/>
                </a:solidFill>
              </a:rPr>
              <a:t> become critical bottlenecks, as well as common sources of </a:t>
            </a:r>
            <a:r>
              <a:rPr i="1" lang="en-US">
                <a:solidFill>
                  <a:schemeClr val="dk1"/>
                </a:solidFill>
              </a:rPr>
              <a:t>deadlocks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i="1" lang="en-US">
                <a:solidFill>
                  <a:schemeClr val="dk1"/>
                </a:solidFill>
              </a:rPr>
              <a:t>race conditions</a:t>
            </a:r>
            <a:r>
              <a:rPr lang="en-US">
                <a:solidFill>
                  <a:schemeClr val="dk1"/>
                </a:solidFill>
              </a:rPr>
              <a:t>. The Play </a:t>
            </a:r>
            <a:r>
              <a:rPr lang="en-US">
                <a:solidFill>
                  <a:srgbClr val="1F1F1F"/>
                </a:solidFill>
                <a:highlight>
                  <a:srgbClr val="F8F9FA"/>
                </a:highlight>
              </a:rPr>
              <a:t>through Pekko change this model to Non-blocking I/O, </a:t>
            </a:r>
            <a:r>
              <a:rPr lang="en-US">
                <a:solidFill>
                  <a:srgbClr val="4A4A4A"/>
                </a:solidFill>
              </a:rPr>
              <a:t>Threads are released back to the pool while waiting for external responses. High resource efficiency. But how they do that?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7be2f657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7be2f65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Pekko solves this by abstracting concurrency through </a:t>
            </a:r>
            <a:r>
              <a:rPr b="1" lang="en-US">
                <a:solidFill>
                  <a:schemeClr val="dk1"/>
                </a:solidFill>
              </a:rPr>
              <a:t>Actors</a:t>
            </a:r>
            <a:r>
              <a:rPr lang="en-US">
                <a:solidFill>
                  <a:schemeClr val="dk1"/>
                </a:solidFill>
              </a:rPr>
              <a:t>. </a:t>
            </a:r>
            <a:r>
              <a:rPr lang="en-US">
                <a:solidFill>
                  <a:srgbClr val="1F1F1F"/>
                </a:solidFill>
                <a:highlight>
                  <a:srgbClr val="F8F9FA"/>
                </a:highlight>
              </a:rPr>
              <a:t>A very quick explanation of this model. </a:t>
            </a:r>
            <a:r>
              <a:rPr lang="en-US">
                <a:solidFill>
                  <a:schemeClr val="dk1"/>
                </a:solidFill>
              </a:rPr>
              <a:t>Actor is an object that encapsulates </a:t>
            </a:r>
            <a:r>
              <a:rPr b="1" lang="en-US">
                <a:solidFill>
                  <a:schemeClr val="dk1"/>
                </a:solidFill>
              </a:rPr>
              <a:t>state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b="1" lang="en-US">
                <a:solidFill>
                  <a:schemeClr val="dk1"/>
                </a:solidFill>
              </a:rPr>
              <a:t>behavior</a:t>
            </a:r>
            <a:r>
              <a:rPr lang="en-US">
                <a:solidFill>
                  <a:schemeClr val="dk1"/>
                </a:solidFill>
              </a:rPr>
              <a:t>, Instead of calling methods on an object (which would block the thread and require </a:t>
            </a:r>
            <a:r>
              <a:rPr i="1" lang="en-US">
                <a:solidFill>
                  <a:schemeClr val="dk1"/>
                </a:solidFill>
              </a:rPr>
              <a:t>locks</a:t>
            </a:r>
            <a:r>
              <a:rPr lang="en-US">
                <a:solidFill>
                  <a:schemeClr val="dk1"/>
                </a:solidFill>
              </a:rPr>
              <a:t> if accessed by multiple threads), Actors communicate exclusively through the exchange of asynchronous messages.The sender sends the message to the recipient's "inbox" (mailbox) and does not get stuck waiting for a reply.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Actors are not </a:t>
            </a:r>
            <a:r>
              <a:rPr i="1" lang="en-US">
                <a:solidFill>
                  <a:schemeClr val="dk1"/>
                </a:solidFill>
              </a:rPr>
              <a:t>threads</a:t>
            </a:r>
            <a:r>
              <a:rPr lang="en-US">
                <a:solidFill>
                  <a:schemeClr val="dk1"/>
                </a:solidFill>
              </a:rPr>
              <a:t> (they are much more lightweight; you can have millions of actors running on a few gigabytes of RAM). Pekko uses components called </a:t>
            </a:r>
            <a:r>
              <a:rPr b="1" lang="en-US">
                <a:solidFill>
                  <a:schemeClr val="dk1"/>
                </a:solidFill>
              </a:rPr>
              <a:t>Dispatchers (</a:t>
            </a:r>
            <a:r>
              <a:rPr b="1" lang="en-US">
                <a:solidFill>
                  <a:schemeClr val="dk1"/>
                </a:solidFill>
              </a:rPr>
              <a:t>The Engine Behind It)</a:t>
            </a:r>
            <a:r>
              <a:rPr lang="en-US">
                <a:solidFill>
                  <a:schemeClr val="dk1"/>
                </a:solidFill>
              </a:rPr>
              <a:t>. The Dispatcher manages a </a:t>
            </a:r>
            <a:r>
              <a:rPr i="1" lang="en-US">
                <a:solidFill>
                  <a:schemeClr val="dk1"/>
                </a:solidFill>
              </a:rPr>
              <a:t>pool</a:t>
            </a:r>
            <a:r>
              <a:rPr lang="en-US">
                <a:solidFill>
                  <a:schemeClr val="dk1"/>
                </a:solidFill>
              </a:rPr>
              <a:t> of real OS threads and allocates processing time to the actors. If an actor has messages in its mailbox, the dispatcher assigns a thread to it to process a batch of messages, and then releases the thread for another actor. This ensures extremely efficient CPU utilization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Resilience comes with The "Let it Crash" Philosophy. </a:t>
            </a:r>
            <a:r>
              <a:rPr lang="en-US">
                <a:solidFill>
                  <a:schemeClr val="dk1"/>
                </a:solidFill>
              </a:rPr>
              <a:t>Pekko structures actors in a supervision hierarchy. Each actor has a "parent" (supervisor). If an actor encounters a critical error (such as a database failure or a </a:t>
            </a:r>
            <a:r>
              <a:rPr i="1" lang="en-US">
                <a:solidFill>
                  <a:schemeClr val="dk1"/>
                </a:solidFill>
              </a:rPr>
              <a:t>NullPointerException</a:t>
            </a:r>
            <a:r>
              <a:rPr lang="en-US">
                <a:solidFill>
                  <a:schemeClr val="dk1"/>
                </a:solidFill>
              </a:rPr>
              <a:t>), it does not try to catch and handle the exception in a complex way. It simply "crashes". The supervising actor is notified of the failure and decides what to do based on pre-defined strategies (e.g., restart the actor by clearing its state, resume operation by ignoring the faulty message, or escalate the failure to its own supervisor). This creates </a:t>
            </a:r>
            <a:r>
              <a:rPr i="1" lang="en-US">
                <a:solidFill>
                  <a:schemeClr val="dk1"/>
                </a:solidFill>
              </a:rPr>
              <a:t>self-healing</a:t>
            </a:r>
            <a:r>
              <a:rPr lang="en-US">
                <a:solidFill>
                  <a:schemeClr val="dk1"/>
                </a:solidFill>
              </a:rPr>
              <a:t> systems.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Location Transparency. </a:t>
            </a:r>
            <a:r>
              <a:rPr lang="en-US">
                <a:solidFill>
                  <a:schemeClr val="dk1"/>
                </a:solidFill>
              </a:rPr>
              <a:t>At the code level, sending a message to an actor living in the same JVM or to an actor living on a different node in a Kubernetes cluster halfway across the world is exactly the same thing. Pekko Cluster handles the routing, serialization, and network delivery, allowing the architecture to scale horizontally and transparently.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7e8975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7e8975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let see some code: play video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have some alternatives to Play Framework like Spring Boot with WebFlux and Quarkus. The 3 ones are </a:t>
            </a:r>
            <a:r>
              <a:rPr lang="en-US"/>
              <a:t>reactive, the play hot reload and type-safety, </a:t>
            </a:r>
            <a:r>
              <a:rPr b="1" lang="en-US">
                <a:solidFill>
                  <a:schemeClr val="dk1"/>
                </a:solidFill>
              </a:rPr>
              <a:t>Spring</a:t>
            </a:r>
            <a:r>
              <a:rPr lang="en-US">
                <a:solidFill>
                  <a:schemeClr val="dk1"/>
                </a:solidFill>
              </a:rPr>
              <a:t> brings the strength of its ecosystem, but has a slower hot reload and lower type-safety, Q</a:t>
            </a:r>
            <a:r>
              <a:rPr b="1" lang="en-US">
                <a:solidFill>
                  <a:schemeClr val="dk1"/>
                </a:solidFill>
              </a:rPr>
              <a:t>arkus and Micronaut</a:t>
            </a:r>
            <a:r>
              <a:rPr lang="en-US">
                <a:solidFill>
                  <a:schemeClr val="dk1"/>
                </a:solidFill>
              </a:rPr>
              <a:t> are the champions of low memory consumption thanks to their native approach.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Pros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horizontal scalability, extremely high performance, and robust out-of-the-box security.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cons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learning curve for asynchronous programming and a smaller ecosystem compared to the giant that is Spring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companies that use or have used the Play Framework</a:t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´s it. Thank you!</a:t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10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93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00" y="-1905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3117651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Play Framework </a:t>
            </a:r>
            <a:r>
              <a:rPr b="1" i="0" lang="en-US" sz="5400" u="none" cap="none" strike="noStrike">
                <a:solidFill>
                  <a:srgbClr val="25C2A0"/>
                </a:solidFill>
                <a:latin typeface="Montserrat"/>
                <a:ea typeface="Montserrat"/>
                <a:cs typeface="Montserrat"/>
                <a:sym typeface="Montserrat"/>
              </a:rPr>
              <a:t>3.0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48650" y="4384475"/>
            <a:ext cx="952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High Performance &amp; Reactive Architecture on the JVM</a:t>
            </a:r>
            <a:endParaRPr/>
          </a:p>
        </p:txBody>
      </p:sp>
      <p:pic>
        <p:nvPicPr>
          <p:cNvPr id="87" name="Google Shape;87;p13" title="play_full_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325" y="1125650"/>
            <a:ext cx="3363348" cy="175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93973"/>
            <a:ext cx="5286375" cy="47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WHAT IS PLAY 3.0?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52375" y="2922023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Built on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Apache Pekko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(Open Source).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5225" y="195915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Reactive and Asynchronous Architecture</a:t>
            </a:r>
            <a:r>
              <a:rPr b="1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45300" y="3331157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Developer Productivity: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Hot reloading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13439" y="4268489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Scale: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Targets low-latency apps with 250k+ Requests Per Second.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083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8" y="287637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768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638" y="4284889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57250" y="1119800"/>
            <a:ext cx="873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Open-source web framework designed for the rapid development of Java and Scala applications </a:t>
            </a:r>
            <a:endParaRPr sz="1500">
              <a:solidFill>
                <a:srgbClr val="4A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p14" title="PlayStac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76813" y="1535300"/>
            <a:ext cx="5639244" cy="51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59513" y="239715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MVC Model and Stateless Design</a:t>
            </a:r>
            <a:endParaRPr b="1" sz="1500">
              <a:solidFill>
                <a:srgbClr val="4A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39918" y="3773338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Dependency Management: 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sbt (Scala Build Tool)</a:t>
            </a:r>
            <a:endParaRPr sz="1500">
              <a:solidFill>
                <a:srgbClr val="4A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3075" y="330733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8638" y="375156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000200" y="5132939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Strongly Typed Routing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600" y="20644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6050"/>
            <a:ext cx="5381625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ARCHITECTURE: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571500" y="5120854"/>
            <a:ext cx="11049000" cy="695325"/>
            <a:chOff x="571500" y="5143500"/>
            <a:chExt cx="11049000" cy="695325"/>
          </a:xfrm>
        </p:grpSpPr>
        <p:pic>
          <p:nvPicPr>
            <p:cNvPr descr="image.png" id="119" name="Google Shape;11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5143500"/>
              <a:ext cx="11049000" cy="695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5"/>
            <p:cNvSpPr txBox="1"/>
            <p:nvPr/>
          </p:nvSpPr>
          <p:spPr>
            <a:xfrm>
              <a:off x="762000" y="5334000"/>
              <a:ext cx="10668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A4A4A"/>
                  </a:solidFill>
                  <a:latin typeface="Open Sans"/>
                  <a:ea typeface="Open Sans"/>
                  <a:cs typeface="Open Sans"/>
                  <a:sym typeface="Open Sans"/>
                </a:rPr>
                <a:t>Advantage:</a:t>
              </a:r>
              <a:r>
                <a:rPr b="0" i="0" lang="en-US" sz="1500" u="none" cap="none" strike="noStrike">
                  <a:solidFill>
                    <a:srgbClr val="4A4A4A"/>
                  </a:solidFill>
                  <a:latin typeface="Open Sans"/>
                  <a:ea typeface="Open Sans"/>
                  <a:cs typeface="Open Sans"/>
                  <a:sym typeface="Open Sans"/>
                </a:rPr>
                <a:t> Better CPU/Memory utilization</a:t>
              </a:r>
              <a:r>
                <a:rPr lang="en-US" sz="1500">
                  <a:solidFill>
                    <a:srgbClr val="4A4A4A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Higher throughput requests</a:t>
              </a:r>
              <a:endParaRPr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857250" y="2235925"/>
            <a:ext cx="50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C2A0"/>
                </a:solidFill>
                <a:latin typeface="Montserrat"/>
                <a:ea typeface="Montserrat"/>
                <a:cs typeface="Montserrat"/>
                <a:sym typeface="Montserrat"/>
              </a:rPr>
              <a:t>Traditional (Servlets)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7250" y="2730475"/>
            <a:ext cx="4810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1 Request = 1 Thread model. Bottlenecks occur during I/O waits (DB, APIs), wasting system resources while threads stay idle.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1778725"/>
            <a:ext cx="285750" cy="28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5"/>
          <p:cNvGrpSpPr/>
          <p:nvPr/>
        </p:nvGrpSpPr>
        <p:grpSpPr>
          <a:xfrm>
            <a:off x="6463325" y="1326052"/>
            <a:ext cx="5381625" cy="2847975"/>
            <a:chOff x="6238875" y="1880575"/>
            <a:chExt cx="5381625" cy="2847975"/>
          </a:xfrm>
        </p:grpSpPr>
        <p:pic>
          <p:nvPicPr>
            <p:cNvPr descr="image.png" id="125" name="Google Shape;12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38875" y="1880575"/>
              <a:ext cx="5381625" cy="28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5"/>
            <p:cNvSpPr txBox="1"/>
            <p:nvPr/>
          </p:nvSpPr>
          <p:spPr>
            <a:xfrm>
              <a:off x="6534150" y="2790450"/>
              <a:ext cx="5050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5C2A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Play / Pekko Model</a:t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6524625" y="3562350"/>
              <a:ext cx="48102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4A4A4A"/>
                  </a:solidFill>
                  <a:latin typeface="Open Sans"/>
                  <a:ea typeface="Open Sans"/>
                  <a:cs typeface="Open Sans"/>
                  <a:sym typeface="Open Sans"/>
                </a:rPr>
                <a:t>Non-blocking I/O. Threads are released back to the pool while waiting for external responses. High resource efficiency.</a:t>
              </a:r>
              <a:endParaRPr/>
            </a:p>
          </p:txBody>
        </p:sp>
        <p:pic>
          <p:nvPicPr>
            <p:cNvPr descr="image.png" id="128" name="Google Shape;128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24650" y="2333250"/>
              <a:ext cx="285750" cy="285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title="Pekk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8700" y="374275"/>
            <a:ext cx="1914600" cy="7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90500" y="5748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BUILT ON APACHE 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51450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6" title="ActorSyste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725" y="1951925"/>
            <a:ext cx="5592699" cy="36880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90500" y="2691313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Focus on</a:t>
            </a:r>
            <a:r>
              <a:rPr b="1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Highly concurrent, distributed and resilient appicatiions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90500" y="1880046"/>
            <a:ext cx="472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What is: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is an open-source toolkit and ecosystem designed for the JVM (Java and Scala) 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90500" y="3469581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Core: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Actor Model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90500" y="5446356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Location Transparency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: message to local or remote actor is the  same</a:t>
            </a:r>
            <a:endParaRPr sz="1500">
              <a:solidFill>
                <a:srgbClr val="4A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028809" y="3878518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Actors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28809" y="418980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Asynchronous Messaging and Mailboxes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28809" y="4504881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 Dispatchers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90500" y="497560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Resilence: </a:t>
            </a:r>
            <a:r>
              <a:rPr lang="en-US" sz="1500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“Let it crash”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51450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title="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000" y="1161450"/>
            <a:ext cx="6617399" cy="50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Alternative Frameworks / Pros and Cons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1500" y="1971675"/>
            <a:ext cx="11049000" cy="33147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18"/>
          <p:cNvGraphicFramePr/>
          <p:nvPr/>
        </p:nvGraphicFramePr>
        <p:xfrm>
          <a:off x="571500" y="1971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{7567A934-25B4-4D31-8464-02C6636A3C1D}</a:tableStyleId>
              </a:tblPr>
              <a:tblGrid>
                <a:gridCol w="1765550"/>
                <a:gridCol w="3455500"/>
                <a:gridCol w="2815425"/>
                <a:gridCol w="3012550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9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Play Framework 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9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Spring Boot (WebFlux)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9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Quarkus / Micronaut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2935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I/O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Reactive (Pekko)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Reactive (Reactor)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Hybrid / Imperative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Hot Reload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Native &amp; Ultra-fast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DevTools (Slower)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Live Coding (Fast)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Type-Safety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Maximum (Routes/Templates)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(Annotations)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Memory 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 (Stateless)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(Std) / Low (Flux)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4A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Minimum (Native)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18"/>
          <p:cNvSpPr txBox="1"/>
          <p:nvPr/>
        </p:nvSpPr>
        <p:spPr>
          <a:xfrm>
            <a:off x="571500" y="5572125"/>
            <a:ext cx="54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Pros:</a:t>
            </a:r>
            <a:r>
              <a:rPr b="0" i="0" lang="en-US" sz="1200" u="none" cap="none" strike="noStrik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Horizontal </a:t>
            </a:r>
            <a:r>
              <a:rPr lang="en-US" sz="1200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scalability </a:t>
            </a:r>
            <a:endParaRPr sz="1200">
              <a:solidFill>
                <a:srgbClr val="0596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	Security: CSRF, XSS, and SQL Injection protection out-of-the-box</a:t>
            </a:r>
            <a:endParaRPr sz="1200">
              <a:solidFill>
                <a:srgbClr val="0596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High throughput, low resource consumption.</a:t>
            </a:r>
            <a:endParaRPr sz="1200">
              <a:solidFill>
                <a:srgbClr val="0596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191250" y="5572125"/>
            <a:ext cx="54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Cons:</a:t>
            </a:r>
            <a:r>
              <a:rPr b="0" i="0" lang="en-US" sz="1200" u="none" cap="none" strike="noStrike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 Async learning curve; </a:t>
            </a:r>
            <a:endParaRPr b="0" i="0" sz="1200" u="none" cap="none" strike="noStrike">
              <a:solidFill>
                <a:srgbClr val="DC262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n-US" sz="1200" u="none" cap="none" strike="noStrike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rPr>
              <a:t>maller ecosystem than Spring.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3300412"/>
            <a:ext cx="1765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337048" y="3300412"/>
            <a:ext cx="3455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92539" y="3300412"/>
            <a:ext cx="3032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8825507" y="3300412"/>
            <a:ext cx="279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71500" y="3957637"/>
            <a:ext cx="1765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337048" y="3957637"/>
            <a:ext cx="3455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92539" y="3957637"/>
            <a:ext cx="3032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825507" y="3957637"/>
            <a:ext cx="279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71500" y="4614862"/>
            <a:ext cx="1765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337048" y="4614862"/>
            <a:ext cx="3455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92539" y="4614862"/>
            <a:ext cx="30329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825507" y="4614862"/>
            <a:ext cx="279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5272087"/>
            <a:ext cx="1765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337048" y="5272087"/>
            <a:ext cx="3455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92539" y="5272087"/>
            <a:ext cx="303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825507" y="5272087"/>
            <a:ext cx="2795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Companies</a:t>
            </a: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 that </a:t>
            </a: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already</a:t>
            </a:r>
            <a:r>
              <a:rPr b="1" lang="en-US" sz="3300">
                <a:solidFill>
                  <a:srgbClr val="152935"/>
                </a:solidFill>
                <a:latin typeface="Montserrat"/>
                <a:ea typeface="Montserrat"/>
                <a:cs typeface="Montserrat"/>
                <a:sym typeface="Montserrat"/>
              </a:rPr>
              <a:t> using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25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9" title="Gemini_Generated_Image_6t3tb26t3tb26t3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775" y="1670100"/>
            <a:ext cx="8155151" cy="46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93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295275" y="205263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316706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5C2A0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attention!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41957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Open Sans"/>
                <a:ea typeface="Open Sans"/>
                <a:cs typeface="Open Sans"/>
                <a:sym typeface="Open Sans"/>
              </a:rPr>
              <a:t>Visit: www.playframework.com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4500562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